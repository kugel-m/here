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mp4" ContentType="video/mp4"/>
  <Default Extension="png" ContentType="image/png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c242e0c8c644eb" /><Relationship Type="http://schemas.openxmlformats.org/officeDocument/2006/relationships/extended-properties" Target="/docProps/app.xml" Id="R95c1c92b74654700" /><Relationship Type="http://schemas.openxmlformats.org/officeDocument/2006/relationships/officeDocument" Target="/ppt/presentation.xml" Id="R51fc74efbdb142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83ee8c714149dd"/>
  </p:sldMasterIdLst>
  <p:notesMasterIdLst>
    <p:notesMasterId xmlns:r="http://schemas.openxmlformats.org/officeDocument/2006/relationships" r:id="Rc55165e17507412f"/>
  </p:notesMasterIdLst>
  <p:sldIdLst>
    <p:sldId xmlns:r="http://schemas.openxmlformats.org/officeDocument/2006/relationships" id="256" r:id="R8152b57d245941e1"/>
    <p:sldId xmlns:r="http://schemas.openxmlformats.org/officeDocument/2006/relationships" id="257" r:id="Rfae72b94c8fd4c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12381ae0024d3f" /><Relationship Type="http://schemas.openxmlformats.org/officeDocument/2006/relationships/slideMaster" Target="/ppt/slideMasters/slideMaster1.xml" Id="Rfd83ee8c714149dd" /><Relationship Type="http://schemas.openxmlformats.org/officeDocument/2006/relationships/notesMaster" Target="/ppt/notesMasters/notesMaster1.xml" Id="Rc55165e17507412f" /><Relationship Type="http://schemas.openxmlformats.org/officeDocument/2006/relationships/presProps" Target="/ppt/presProps.xml" Id="Rbb932beed6b54c41" /><Relationship Type="http://schemas.openxmlformats.org/officeDocument/2006/relationships/tableStyles" Target="/ppt/tableStyles.xml" Id="R31ede5980ab041ae" /><Relationship Type="http://schemas.openxmlformats.org/officeDocument/2006/relationships/slide" Target="/ppt/slides/slide1.xml" Id="R8152b57d245941e1" /><Relationship Type="http://schemas.openxmlformats.org/officeDocument/2006/relationships/slide" Target="/ppt/slides/slide2.xml" Id="Rfae72b94c8fd4c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2d3f3783254a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cf42f6554a4944" /><Relationship Type="http://schemas.openxmlformats.org/officeDocument/2006/relationships/notesMaster" Target="/ppt/notesMasters/notesMaster1.xml" Id="Rfa0498e4ada541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371dd1b6f849cd" /><Relationship Type="http://schemas.openxmlformats.org/officeDocument/2006/relationships/notesMaster" Target="/ppt/notesMasters/notesMaster1.xml" Id="Reb0ef7277ec841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unmodified captures from the actual application. The English text translates the visible task/status information. Full translation of controls and visible notices is in 05_Technical_Documents/UI_English_Translation.html. The map floorplan overlay is estimated and is separate from the original-3D-frame navigation graph. Slide 1, middle: destination Entrance / shoe-cabinet Waypoint 1; 0 waypoints passed and 7 steps remain; turn right and follow the path to Dining Table Waypoint 6. Remaining distance is not calibrated in meters. Current-photo arrow overlay is not live camera AR. The third capture confirms a controlled arrival by replaying a registered mapping image through the real localization engine. It is not a field walking trial. Sources: actual captures 01_Home.jpg, 05_Visual_Navigation.jpg and 08_Arrival.jpg, collected on 17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video is embedded in this PPTX. Click the video in PowerPoint slide-show mode. A static PDF shows only its poster; the independent video is 02_Demo_Video/HERE_Demo_EN.mp4. Confirm playback on the presentation computer. Real query: queries/20261017_132450_6a6eaa/result.json, 68 valid 2D–3D correspondences, median reprojection error 1.681 pixels. Reprojection error is not physical localization accuracy. Prebuilt model: 141 registered reference cameras, 35,040 sparse points. A public team video URL and GitHub URL have not yet been supplied. Team source is included in 03_Application/indoor_mapper_mvp. Do not represent upstream repositories as team-owned code. Technical sources: https://github.com/colmap/colmap ; https://colmap.github.io/faq.html#register-localize-new-images-into-an-existing-reconstruction ; https://github.com/isl-org/Open3D ; https://github.com/FFmpeg/FFmpeg . The prototype uses the existing engine, an independent navigation graph, A* path planning and static photo overlays. No hloc or Gaussian-splatting implementation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32a6d624142b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430678ab3450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e780debc584b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b3a4fb83548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913dda98e44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61f30435947d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B5C5A96-4A38-47C7-AAD3-FED8E0C5DB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98E642-DBD1-4EB7-AD14-9ED0DCCD7C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A0E1C5-4A8D-4CE0-A2BD-C797DDB9BA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CCEEFB-4BA3-42C5-98BA-DC29E9CB1E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27C8EF8-991C-41B2-AE00-19BC01207D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677D672-DDC1-473C-8926-900BF6D3ED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C35499-987A-44E8-8F69-1CF484292F2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AC0F21-DA91-4EE7-BDC8-60E2120D11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4C345A-F31E-4CC6-8095-FDC1652450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517986-FFBD-4707-A40C-73CF368927B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0554cd03294399" /><Relationship Type="http://schemas.openxmlformats.org/officeDocument/2006/relationships/slideLayout" Target="/ppt/slideLayouts/slideLayout1.xml" Id="R69dfc6e4c0bb4e9d" /><Relationship Type="http://schemas.openxmlformats.org/officeDocument/2006/relationships/slideLayout" Target="/ppt/slideLayouts/slideLayout2.xml" Id="R0797c57854ea4905" /><Relationship Type="http://schemas.openxmlformats.org/officeDocument/2006/relationships/slideLayout" Target="/ppt/slideLayouts/slideLayout3.xml" Id="R4d267945f0e947ed" /><Relationship Type="http://schemas.openxmlformats.org/officeDocument/2006/relationships/slideLayout" Target="/ppt/slideLayouts/slideLayout4.xml" Id="R7dca13cad6064570" /><Relationship Type="http://schemas.openxmlformats.org/officeDocument/2006/relationships/slideLayout" Target="/ppt/slideLayouts/slideLayout5.xml" Id="R3ec80b04af424b78" /><Relationship Type="http://schemas.openxmlformats.org/officeDocument/2006/relationships/slideLayout" Target="/ppt/slideLayouts/slideLayout6.xml" Id="R082e0f9ef06a40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dfc6e4c0bb4e9d"/>
    <p:sldLayoutId xmlns:r="http://schemas.openxmlformats.org/officeDocument/2006/relationships" id="2147483650" r:id="R0797c57854ea4905"/>
    <p:sldLayoutId xmlns:r="http://schemas.openxmlformats.org/officeDocument/2006/relationships" id="2147483651" r:id="R4d267945f0e947ed"/>
    <p:sldLayoutId xmlns:r="http://schemas.openxmlformats.org/officeDocument/2006/relationships" id="2147483652" r:id="R7dca13cad6064570"/>
    <p:sldLayoutId xmlns:r="http://schemas.openxmlformats.org/officeDocument/2006/relationships" id="2147483653" r:id="R3ec80b04af424b78"/>
    <p:sldLayoutId xmlns:r="http://schemas.openxmlformats.org/officeDocument/2006/relationships" id="2147483654" r:id="R082e0f9ef06a40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d6dff6f2344fcc" /><Relationship Type="http://schemas.openxmlformats.org/officeDocument/2006/relationships/image" Target="/ppt/media/image.jpeg" Id="Reca4638809dd43bd" /><Relationship Type="http://schemas.openxmlformats.org/officeDocument/2006/relationships/image" Target="/ppt/media/image2.jpeg" Id="R997daf038a264531" /><Relationship Type="http://schemas.openxmlformats.org/officeDocument/2006/relationships/image" Target="/ppt/media/image3.jpeg" Id="R471ea5b0c4e24fed" /><Relationship Type="http://schemas.openxmlformats.org/officeDocument/2006/relationships/notesSlide" Target="/ppt/notesSlides/notesSlide1.xml" Id="Rbbad03b537ad4092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82b25ac17bb744f3" /><Relationship Type="http://schemas.openxmlformats.org/officeDocument/2006/relationships/image" Target="/ppt/media/image4.jpeg" Id="R10710ad27e924848" /><Relationship Type="http://schemas.openxmlformats.org/officeDocument/2006/relationships/notesSlide" Target="/ppt/notesSlides/notesSlide2.xml" Id="R088195a27e2e423c" /><Relationship Id="rIdHereVideo" Type="http://schemas.openxmlformats.org/officeDocument/2006/relationships/video" Target="../media/HERE_Demo_EN.mp4" /><Relationship Id="rIdHereMedia" Type="http://schemas.microsoft.com/office/2007/relationships/media" Target="../media/HERE_Demo_EN.mp4" /><Relationship Id="rIdHereRepository" Type="http://schemas.openxmlformats.org/officeDocument/2006/relationships/hyperlink" Target="https://github.com/Kugel-M/Here" TargetMode="External" /><Relationship Id="rIdHereRepositoryQR" Type="http://schemas.openxmlformats.org/officeDocument/2006/relationships/image" Target="../media/Here_Repository_QR.png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HERE / INDOOR VISUAL NAVIGATION">
            <a:extLst xmlns:a="http://schemas.openxmlformats.org/drawingml/2006/main">
              <a:ext uri="{FF2B5EF4-FFF2-40B4-BE49-F238E27FC236}">
                <a16:creationId xmlns:a16="http://schemas.microsoft.com/office/drawing/2014/main" id="{8CBA2428-B73C-4F9F-A0D7-D1E7ACD9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"/>
            <a:ext cx="11049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37064"/>
                </a:solidFill>
                <a:latin typeface="Segoe UI"/>
                <a:ea typeface="Segoe UI"/>
                <a:cs typeface="Segoe UI"/>
              </a:rPr>
              <a:t>HERE / INDOOR VISUAL NAVIGATION</a:t>
            </a:r>
          </a:p>
        </p:txBody>
      </p:sp>
      <p:sp>
        <p:nvSpPr>
          <p:cNvPr id="2" name="Working prototype">
            <a:extLst xmlns:a="http://schemas.openxmlformats.org/drawingml/2006/main">
              <a:ext uri="{FF2B5EF4-FFF2-40B4-BE49-F238E27FC236}">
                <a16:creationId xmlns:a16="http://schemas.microsoft.com/office/drawing/2014/main" id="{E7FA855B-84DB-4E07-9CD9-1E3AC3A2D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43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Working prototype</a:t>
            </a:r>
          </a:p>
        </p:txBody>
      </p:sp>
      <p:sp>
        <p:nvSpPr>
          <p:cNvPr id="3" name="Windows processing with a mobile we">
            <a:extLst xmlns:a="http://schemas.openxmlformats.org/drawingml/2006/main">
              <a:ext uri="{FF2B5EF4-FFF2-40B4-BE49-F238E27FC236}">
                <a16:creationId xmlns:a16="http://schemas.microsoft.com/office/drawing/2014/main" id="{37ED5475-D1D0-4F1F-B3C0-C71C8509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620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37064"/>
                </a:solidFill>
                <a:latin typeface="Segoe UI"/>
                <a:ea typeface="Segoe UI"/>
                <a:cs typeface="Segoe UI"/>
              </a:rPr>
              <a:t>Windows processing with a mobile web interface</a:t>
            </a:r>
          </a:p>
        </p:txBody>
      </p:sp>
      <p:sp>
        <p:nvSpPr>
          <p:cNvPr id="4" name="01 / OPEN THE MAP">
            <a:extLst xmlns:a="http://schemas.openxmlformats.org/drawingml/2006/main">
              <a:ext uri="{FF2B5EF4-FFF2-40B4-BE49-F238E27FC236}">
                <a16:creationId xmlns:a16="http://schemas.microsoft.com/office/drawing/2014/main" id="{2D2E79F0-E906-4C6A-9C0E-A64563F6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01 / OPEN THE MAP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5EDFE-D6B1-4FDE-8914-612AC6128C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4638809dd43bd"/>
          <a:stretch xmlns:a="http://schemas.openxmlformats.org/drawingml/2006/main"/>
        </p:blipFill>
        <p:spPr>
          <a:xfrm xmlns:a="http://schemas.openxmlformats.org/drawingml/2006/main">
            <a:off x="571500" y="2365287"/>
            <a:ext cx="1657350" cy="3470451"/>
          </a:xfrm>
          <a:prstGeom xmlns:a="http://schemas.openxmlformats.org/drawingml/2006/main" prst="rect">
            <a:avLst/>
          </a:prstGeom>
        </p:spPr>
      </p:pic>
      <p:sp>
        <p:nvSpPr>
          <p:cNvPr id="6" name="Indoor map&#10;connected">
            <a:extLst xmlns:a="http://schemas.openxmlformats.org/drawingml/2006/main">
              <a:ext uri="{FF2B5EF4-FFF2-40B4-BE49-F238E27FC236}">
                <a16:creationId xmlns:a16="http://schemas.microsoft.com/office/drawing/2014/main" id="{A10C0204-40B5-45CF-90E6-8C323F12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4003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Indoor map</a:t>
            </a:r>
          </a:p>
          <a:p xmlns:a="http://schemas.openxmlformats.org/drawingml/2006/main">
            <a:pPr>
              <a:defRPr sz="20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connected</a:t>
            </a:r>
          </a:p>
        </p:txBody>
      </p:sp>
      <p:sp>
        <p:nvSpPr>
          <p:cNvPr id="7" name="Take a photo&#10;or choose one&#10;from the">
            <a:extLst xmlns:a="http://schemas.openxmlformats.org/drawingml/2006/main">
              <a:ext uri="{FF2B5EF4-FFF2-40B4-BE49-F238E27FC236}">
                <a16:creationId xmlns:a16="http://schemas.microsoft.com/office/drawing/2014/main" id="{F960D57A-C61E-48AB-9AB2-D1D9D48E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286125"/>
            <a:ext cx="1714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Take a photo</a:t>
            </a:r>
          </a:p>
          <a:p xmlns:a="http://schemas.openxmlformats.org/drawingml/2006/main">
            <a: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or choose one</a:t>
            </a:r>
          </a:p>
          <a:p xmlns:a="http://schemas.openxmlformats.org/drawingml/2006/main">
            <a: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from the album.</a:t>
            </a:r>
          </a:p>
        </p:txBody>
      </p:sp>
      <p:sp>
        <p:nvSpPr>
          <p:cNvPr id="8" name="02 / FOLLOW THE ROUTE">
            <a:extLst xmlns:a="http://schemas.openxmlformats.org/drawingml/2006/main">
              <a:ext uri="{FF2B5EF4-FFF2-40B4-BE49-F238E27FC236}">
                <a16:creationId xmlns:a16="http://schemas.microsoft.com/office/drawing/2014/main" id="{DD8B95FA-63F4-4803-8756-7685FBAA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924050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02 / FOLLOW THE ROUTE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8C9A0-BA77-4ECA-9385-05CB1EED43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daf038a264531"/>
          <a:stretch xmlns:a="http://schemas.openxmlformats.org/drawingml/2006/main"/>
        </p:blipFill>
        <p:spPr>
          <a:xfrm xmlns:a="http://schemas.openxmlformats.org/drawingml/2006/main">
            <a:off x="4410075" y="2365287"/>
            <a:ext cx="1657350" cy="3470451"/>
          </a:xfrm>
          <a:prstGeom xmlns:a="http://schemas.openxmlformats.org/drawingml/2006/main" prst="rect">
            <a:avLst/>
          </a:prstGeom>
        </p:spPr>
      </p:pic>
      <p:sp>
        <p:nvSpPr>
          <p:cNvPr id="10" name="Turn right">
            <a:extLst xmlns:a="http://schemas.openxmlformats.org/drawingml/2006/main">
              <a:ext uri="{FF2B5EF4-FFF2-40B4-BE49-F238E27FC236}">
                <a16:creationId xmlns:a16="http://schemas.microsoft.com/office/drawing/2014/main" id="{7EBF4F36-DD1A-4746-851A-12DEC21B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Turn right</a:t>
            </a:r>
          </a:p>
        </p:txBody>
      </p:sp>
      <p:sp>
        <p:nvSpPr>
          <p:cNvPr id="11" name="Follow the path&#10;to Dining Table&#10;Way">
            <a:extLst xmlns:a="http://schemas.openxmlformats.org/drawingml/2006/main">
              <a:ext uri="{FF2B5EF4-FFF2-40B4-BE49-F238E27FC236}">
                <a16:creationId xmlns:a16="http://schemas.microsoft.com/office/drawing/2014/main" id="{06A87698-F7F6-4D65-990E-0BDD6ACC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1714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Follow the path</a:t>
            </a:r>
          </a:p>
          <a:p xmlns:a="http://schemas.openxmlformats.org/drawingml/2006/main">
            <a: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to Dining Table</a:t>
            </a:r>
          </a:p>
          <a:p xmlns:a="http://schemas.openxmlformats.org/drawingml/2006/main">
            <a: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Waypoint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7 steps remain.</a:t>
            </a:r>
          </a:p>
        </p:txBody>
      </p:sp>
      <p:sp>
        <p:nvSpPr>
          <p:cNvPr id="12" name="03 / RE-LOCALIZE">
            <a:extLst xmlns:a="http://schemas.openxmlformats.org/drawingml/2006/main">
              <a:ext uri="{FF2B5EF4-FFF2-40B4-BE49-F238E27FC236}">
                <a16:creationId xmlns:a16="http://schemas.microsoft.com/office/drawing/2014/main" id="{106B75E8-5953-4182-B74A-CC9824547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24050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03 / RE-LOCALIZE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D8592-A360-4AAF-9CC3-95822A3935D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ea5b0c4e24fed"/>
          <a:stretch xmlns:a="http://schemas.openxmlformats.org/drawingml/2006/main"/>
        </p:blipFill>
        <p:spPr>
          <a:xfrm xmlns:a="http://schemas.openxmlformats.org/drawingml/2006/main">
            <a:off x="8248650" y="2365287"/>
            <a:ext cx="1657350" cy="3470451"/>
          </a:xfrm>
          <a:prstGeom xmlns:a="http://schemas.openxmlformats.org/drawingml/2006/main" prst="rect">
            <a:avLst/>
          </a:prstGeom>
        </p:spPr>
      </p:pic>
      <p:sp>
        <p:nvSpPr>
          <p:cNvPr id="14" name="Near the&#10;destination">
            <a:extLst xmlns:a="http://schemas.openxmlformats.org/drawingml/2006/main">
              <a:ext uri="{FF2B5EF4-FFF2-40B4-BE49-F238E27FC236}">
                <a16:creationId xmlns:a16="http://schemas.microsoft.com/office/drawing/2014/main" id="{0F72C23B-44D4-461D-B556-6A95991A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4003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Near the</a:t>
            </a:r>
          </a:p>
          <a:p xmlns:a="http://schemas.openxmlformats.org/drawingml/2006/main">
            <a:pPr>
              <a:defRPr sz="20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destination</a:t>
            </a:r>
          </a:p>
        </p:txBody>
      </p:sp>
      <p:sp>
        <p:nvSpPr>
          <p:cNvPr id="15" name="Entrance /&#10;shoe-cabinet&#10;Waypoint 1.">
            <a:extLst xmlns:a="http://schemas.openxmlformats.org/drawingml/2006/main">
              <a:ext uri="{FF2B5EF4-FFF2-40B4-BE49-F238E27FC236}">
                <a16:creationId xmlns:a16="http://schemas.microsoft.com/office/drawing/2014/main" id="{72141A2E-47E8-4DC3-9A51-36BA8B27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286125"/>
            <a:ext cx="1714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Entrance /</a:t>
            </a:r>
          </a:p>
          <a:p xmlns:a="http://schemas.openxmlformats.org/drawingml/2006/main">
            <a: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shoe-cabinet</a:t>
            </a:r>
          </a:p>
          <a:p xmlns:a="http://schemas.openxmlformats.org/drawingml/2006/main">
            <a: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Waypoint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Check the</a:t>
            </a:r>
          </a:p>
          <a:p xmlns:a="http://schemas.openxmlformats.org/drawingml/2006/main">
            <a:pPr>
              <a:defRPr sz="1725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physical sign.</a:t>
            </a:r>
          </a:p>
        </p:txBody>
      </p:sp>
      <p:sp>
        <p:nvSpPr>
          <p:cNvPr id="16" name="Original Chinese UI; English transl">
            <a:extLst xmlns:a="http://schemas.openxmlformats.org/drawingml/2006/main">
              <a:ext uri="{FF2B5EF4-FFF2-40B4-BE49-F238E27FC236}">
                <a16:creationId xmlns:a16="http://schemas.microsoft.com/office/drawing/2014/main" id="{1B6DA942-35E5-4912-8CB1-1C8AD274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769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37064"/>
                </a:solidFill>
                <a:latin typeface="Segoe UI"/>
                <a:ea typeface="Segoe UI"/>
                <a:cs typeface="Segoe UI"/>
              </a:rPr>
              <a:t>Original Chinese UI; English translations shown alongside each capture.</a:t>
            </a:r>
          </a:p>
        </p:txBody>
      </p:sp>
      <p:sp>
        <p:nvSpPr>
          <p:cNvPr id="17" name="Arrival uses a registered-image rep">
            <a:extLst xmlns:a="http://schemas.openxmlformats.org/drawingml/2006/main">
              <a:ext uri="{FF2B5EF4-FFF2-40B4-BE49-F238E27FC236}">
                <a16:creationId xmlns:a16="http://schemas.microsoft.com/office/drawing/2014/main" id="{810C64EC-91A7-4CEB-A57D-22B2A909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pPr>
            <a:r>
              <a:rPr sz="1575" b="0">
                <a:solidFill>
                  <a:srgbClr val="637064"/>
                </a:solidFill>
                <a:latin typeface="Segoe UI"/>
                <a:ea typeface="Segoe UI"/>
                <a:cs typeface="Segoe UI"/>
              </a:rPr>
              <a:t>Arrival uses a registered-image replay. On-site walking validation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1933319950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3" name="HERE / INDOOR VISUAL NAVIGATION">
            <a:extLst>
              <a:ext uri="{FF2B5EF4-FFF2-40B4-BE49-F238E27FC236}">
                <ns2:creationId id="{2E92ECA1-6080-4C15-8B33-66A56E35E880}"/>
              </a:ext>
            </a:extLst>
          </p:cNvPr>
          <p:cNvSpPr>
            <a:spLocks noGrp="1"/>
          </p:cNvSpPr>
          <p:nvPr/>
        </p:nvSpPr>
        <p:spPr>
          <a:xfrm>
            <a:off x="571500" y="285750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00" b="1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1500" b="1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637064"/>
                </a:solidFill>
                <a:latin typeface="Segoe UI"/>
                <a:ea typeface="Segoe UI"/>
                <a:cs typeface="Segoe UI"/>
              </a:rPr>
              <a:t>HERE / INDOOR VISUAL NAVIGATION</a:t>
            </a:r>
          </a:p>
        </p:txBody>
      </p:sp>
      <p:sp>
        <p:nvSpPr>
          <p:cNvPr id="2" name="Demo and technical evidence">
            <a:extLst>
              <a:ext uri="{FF2B5EF4-FFF2-40B4-BE49-F238E27FC236}">
                <ns2:creationId id="{C09D41E3-E916-435A-A817-D36E5457D9B5}"/>
              </a:ext>
            </a:extLst>
          </p:cNvPr>
          <p:cNvSpPr>
            <a:spLocks noGrp="1"/>
          </p:cNvSpPr>
          <p:nvPr/>
        </p:nvSpPr>
        <p:spPr>
          <a:xfrm>
            <a:off x="571500" y="714375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450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3450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3450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Demo and technical evidence</a:t>
            </a:r>
          </a:p>
        </p:txBody>
      </p:sp>
      <p:sp>
        <p:nvSpPr>
          <p:cNvPr id="3" name="68-second English narration · real ">
            <a:extLst>
              <a:ext uri="{FF2B5EF4-FFF2-40B4-BE49-F238E27FC236}">
                <ns2:creationId id="{A2C29752-739C-4653-90C2-FD502FD14D21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1800" b="0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637064"/>
                </a:solidFill>
                <a:latin typeface="Segoe UI"/>
                <a:ea typeface="Segoe UI"/>
                <a:cs typeface="Segoe UI"/>
              </a:rPr>
              <a:t>68-second English narration · real photos and computed camera poses</a:t>
            </a:r>
          </a:p>
        </p:txBody>
      </p:sp>
      <p:pic>
        <p:nvPicPr>
          <p:cNvPr id="4" name="Embedded Demo Video" descr="68-second English-narrated real-photo application walkthrough">
            <a:extLst>
              <a:ext uri="{FF2B5EF4-FFF2-40B4-BE49-F238E27FC236}">
                <ns2:creationId id="{6CD2394D-1594-47F8-88B0-11DA7B703195}"/>
              </a:ext>
            </a:extLst>
            <a:hlinkClick action="ppaction://media"/>
          </p:cNvPr>
          <p:cNvPicPr>
            <a:picLocks noChangeAspect="1"/>
          </p:cNvPicPr>
          <p:nvPr>
            <a:videoFile r:link="rIdHereVideo"/>
            <p:extLst>
              <p:ext uri="{DAA4B4D4-EC0C-43D1-B6A9-FAD6A5E908AA}">
                <p14:media r:embed="rIdHereMedia"/>
              </p:ext>
            </p:extLst>
          </p:nvPr>
        </p:nvPicPr>
        <p:blipFill>
          <a:blip r:embed="R10710ad27e924848"/>
          <a:stretch/>
        </p:blipFill>
        <p:spPr>
          <a:xfrm>
            <a:off x="571500" y="2028825"/>
            <a:ext cx="7239000" cy="4071938"/>
          </a:xfrm>
          <a:prstGeom prst="rect">
            <a:avLst/>
          </a:prstGeom>
        </p:spPr>
      </p:pic>
      <p:sp>
        <p:nvSpPr>
          <p:cNvPr id="5" name="RECORDED LOCALIZATION">
            <a:extLst>
              <a:ext uri="{FF2B5EF4-FFF2-40B4-BE49-F238E27FC236}">
                <ns2:creationId id="{50E3380D-9A7E-4BB9-9F6E-828D8C42FBAB}"/>
              </a:ext>
            </a:extLst>
          </p:cNvPr>
          <p:cNvSpPr>
            <a:spLocks noGrp="1"/>
          </p:cNvSpPr>
          <p:nvPr/>
        </p:nvSpPr>
        <p:spPr>
          <a:xfrm>
            <a:off x="8096250" y="1981200"/>
            <a:ext cx="352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17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RECORDED LOCALIZATION</a:t>
            </a:r>
          </a:p>
        </p:txBody>
      </p:sp>
      <p:sp>
        <p:nvSpPr>
          <p:cNvPr id="6" name="68 2D–3D correspondences&#10;1.68 px me">
            <a:extLst>
              <a:ext uri="{FF2B5EF4-FFF2-40B4-BE49-F238E27FC236}">
                <ns2:creationId id="{E560E125-603E-4942-BED4-B8604248FEC7}"/>
              </a:ext>
            </a:extLst>
          </p:cNvPr>
          <p:cNvSpPr>
            <a:spLocks noGrp="1"/>
          </p:cNvSpPr>
          <p:nvPr/>
        </p:nvSpPr>
        <p:spPr>
          <a:xfrm>
            <a:off x="8096250" y="2390775"/>
            <a:ext cx="3524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1800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68 2D–3D correspondences</a:t>
            </a:r>
          </a:p>
          <a:p>
            <a:pPr>
              <a:defRPr sz="1800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1.68 px median reprojection error</a:t>
            </a:r>
          </a:p>
        </p:txBody>
      </p:sp>
      <p:sp>
        <p:nvSpPr>
          <p:cNvPr id="7" name="PREBUILT MAP">
            <a:extLst>
              <a:ext uri="{FF2B5EF4-FFF2-40B4-BE49-F238E27FC236}">
                <ns2:creationId id="{A42B6136-482E-441E-9EEC-508699544D76}"/>
              </a:ext>
            </a:extLst>
          </p:cNvPr>
          <p:cNvSpPr>
            <a:spLocks noGrp="1"/>
          </p:cNvSpPr>
          <p:nvPr/>
        </p:nvSpPr>
        <p:spPr>
          <a:xfrm>
            <a:off x="8096250" y="3457575"/>
            <a:ext cx="352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17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PREBUILT MAP</a:t>
            </a:r>
          </a:p>
        </p:txBody>
      </p:sp>
      <p:sp>
        <p:nvSpPr>
          <p:cNvPr id="8" name="141 registered cameras&#10;35,040 spars">
            <a:extLst>
              <a:ext uri="{FF2B5EF4-FFF2-40B4-BE49-F238E27FC236}">
                <ns2:creationId id="{6F39B8C4-65F0-41BD-8736-B4E6754C2AF1}"/>
              </a:ext>
            </a:extLst>
          </p:cNvPr>
          <p:cNvSpPr>
            <a:spLocks noGrp="1"/>
          </p:cNvSpPr>
          <p:nvPr/>
        </p:nvSpPr>
        <p:spPr>
          <a:xfrm>
            <a:off x="8096250" y="3848100"/>
            <a:ext cx="35242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1800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141 registered cameras</a:t>
            </a:r>
          </a:p>
          <a:p>
            <a:pPr>
              <a:defRPr sz="1800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35,040 sparse points</a:t>
            </a:r>
          </a:p>
        </p:txBody>
      </p:sp>
      <p:sp>
        <p:nvSpPr>
          <p:cNvPr id="9" name="SOURCE AND SETUP">
            <a:extLst>
              <a:ext uri="{FF2B5EF4-FFF2-40B4-BE49-F238E27FC236}">
                <ns2:creationId id="{FA2CEA77-10A8-44E4-AD3E-D2B650DB1828}"/>
              </a:ext>
            </a:extLst>
          </p:cNvPr>
          <p:cNvSpPr>
            <a:spLocks noGrp="1"/>
          </p:cNvSpPr>
          <p:nvPr/>
        </p:nvSpPr>
        <p:spPr>
          <a:xfrm>
            <a:off x="8096250" y="4781550"/>
            <a:ext cx="35242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1725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725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SOURCE AND SETUP</a:t>
            </a:r>
          </a:p>
        </p:txBody>
      </p:sp>
      <p:sp>
        <p:nvSpPr>
          <p:cNvPr id="10" name="Included with a sample map&#10;in the h">
            <a:extLst>
              <a:ext uri="{FF2B5EF4-FFF2-40B4-BE49-F238E27FC236}">
                <ns2:creationId id="{7F217624-C9FD-4724-85EB-0FEE99F49CAA}"/>
              </a:ext>
            </a:extLst>
          </p:cNvPr>
          <p:cNvSpPr>
            <a:spLocks noGrp="1"/>
          </p:cNvSpPr>
          <p:nvPr/>
        </p:nvSpPr>
        <p:spPr>
          <a:xfrm>
            <a:off x="8096250" y="5172075"/>
            <a:ext cx="23812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1800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2E2A"/>
                </a:solidFill>
                <a:latin typeface="Segoe UI"/>
                <a:ea typeface="Segoe UI"/>
                <a:cs typeface="Segoe UI"/>
                <a:hlinkClick r:id="rIdHereRepository"/>
              </a:rPr>
              <a:t>GitHub: Kugel-M/Here</a:t>
            </a:r>
          </a:p>
          <a:p>
            <a:pPr>
              <a:defRPr sz="1800" b="0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800" b="0">
                <a:solidFill>
                  <a:srgbClr val="242E2A"/>
                </a:solidFill>
                <a:latin typeface="Segoe UI"/>
                <a:ea typeface="Segoe UI"/>
                <a:cs typeface="Segoe UI"/>
                <a:hlinkClick r:id="rIdHereRepository"/>
              </a:rPr>
              <a:t>Source, video and map</a:t>
            </a:r>
          </a:p>
        </p:txBody>
      </p:sp>
      <p:sp>
        <p:nvSpPr>
          <p:cNvPr id="11" name="Photo → COLMAP camera pose → A* rou">
            <a:extLst>
              <a:ext uri="{FF2B5EF4-FFF2-40B4-BE49-F238E27FC236}">
                <ns2:creationId id="{BDE336A8-DD12-41FA-AFB3-11F38D2BC3E8}"/>
              </a:ext>
            </a:extLst>
          </p:cNvPr>
          <p:cNvSpPr>
            <a:spLocks noGrp="1"/>
          </p:cNvSpPr>
          <p:nvPr/>
        </p:nvSpPr>
        <p:spPr>
          <a:xfrm>
            <a:off x="571500" y="6191250"/>
            <a:ext cx="11049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1800" b="1">
                <a:solidFill>
                  <a:srgbClr val="242E2A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242E2A"/>
                </a:solidFill>
                <a:latin typeface="Segoe UI"/>
                <a:ea typeface="Segoe UI"/>
                <a:cs typeface="Segoe UI"/>
              </a:rPr>
              <a:t>Photo → COLMAP camera pose → A* route → scene-photo arrows</a:t>
            </a:r>
          </a:p>
        </p:txBody>
      </p:sp>
      <p:sp>
        <p:nvSpPr>
          <p:cNvPr id="12" name="Arbitrary model scale; static photo">
            <a:extLst>
              <a:ext uri="{FF2B5EF4-FFF2-40B4-BE49-F238E27FC236}">
                <ns2:creationId id="{DECE7E1B-FC73-4F87-88C4-FA8BE26B897B}"/>
              </a:ext>
            </a:extLst>
          </p:cNvPr>
          <p:cNvSpPr>
            <a:spLocks noGrp="1"/>
          </p:cNvSpPr>
          <p:nvPr/>
        </p:nvSpPr>
        <p:spPr>
          <a:xfrm>
            <a:off x="571500" y="6553200"/>
            <a:ext cx="11049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defPPr>
          </a:lstStyle>
          <a:p>
            <a:pPr>
              <a:defRPr sz="1425" b="0">
                <a:solidFill>
                  <a:srgbClr val="637064"/>
                </a:solidFill>
                <a:latin typeface="Segoe UI"/>
                <a:ea typeface="Segoe UI"/>
                <a:cs typeface="Segoe UI"/>
              </a:defRPr>
            </a:pPr>
            <a:r>
              <a:rPr sz="1425" b="0">
                <a:solidFill>
                  <a:srgbClr val="637064"/>
                </a:solidFill>
                <a:latin typeface="Segoe UI"/>
                <a:ea typeface="Segoe UI"/>
                <a:cs typeface="Segoe UI"/>
              </a:rPr>
              <a:t>Arbitrary model scale; static photo overlays. Candidate routes require field verification.</a:t>
            </a:r>
          </a:p>
        </p:txBody>
      </p:sp>
      <p:pic>
        <p:nvPicPr>
          <p:cNvPr id="14" name="Repository QR" descr="https://github.com/Kugel-M/Here"/>
          <p:cNvPicPr/>
          <p:nvPr/>
        </p:nvPicPr>
        <p:blipFill>
          <a:blip r:embed="rIdHereRepositoryQR"/>
          <a:stretch>
            <a:fillRect/>
          </a:stretch>
        </p:blipFill>
        <p:spPr>
          <a:xfrm>
            <a:off x="10706100" y="5162550"/>
            <a:ext cx="876300" cy="876300"/>
          </a:xfrm>
          <a:prstGeom prst="rect">
            <a:avLst/>
          </a:prstGeom>
        </p:spPr>
      </p:pic>
    </p:spTree>
    <p:extLst>
      <p:ext uri="{BB962C8B-B14F-4D97-AF65-F5344CB8AC3E}">
        <p14:creationId val="522470643"/>
      </p:ext>
    </p:extLst>
  </p:cSld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2026-10-17T06:04:54.4310000Z</dcterms:created>
  <dcterms:modified xsi:type="dcterms:W3CDTF">2026-10-17T06:04:54.4310000Z</dcterms:modified>
</coreProperties>
</file>